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13716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Sistem Interaksi &amp; Gestur Lanjutan</a:t>
            </a:r>
          </a:p>
          <a:p>
            <a:pPr>
              <a:defRPr sz="2000">
                <a:solidFill>
                  <a:srgbClr val="2E7D32"/>
                </a:solidFill>
                <a:latin typeface="Arial"/>
              </a:defRPr>
            </a:pPr>
            <a:r>
              <a:t>Optimasi UX, Touch Feedback Dinamis, &amp; Telemetri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Aplikasi Flutter Cross-Platform: Sorgummi AI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Pemenuhan Kriteria Penilaian Ujian Akhir Dosen (Poin 1, 3, &amp; 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  <a:latin typeface="Arial"/>
              </a:defRPr>
            </a:pPr>
            <a:r>
              <a:t>SORGUMMI AI • GESTURE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Latar Belakang &amp; Pemenuhan Kriteria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Slide Presentasi Gestur &amp; Interaksi Lanjutan Sorgummi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Arial"/>
              </a:defRPr>
            </a:pPr>
            <a:r>
              <a:t>Tujuan Implementasi Gestur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Mewujudkan antarmuka bersih (Clean UI) dengan mengurangi tombol navigasi fisik.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Meningkatkan kenyamanan pengguna dengan pintasan (shortcut) gerakan intuitif.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Mengadopsi pola interaksi modern yang umum pada aplikasi mobile terkemuka (swipe, long press, pinch).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Arial"/>
              </a:defRPr>
            </a:pPr>
            <a:r>
              <a:t>Pemenuhan Kriteria Rubrik Dosen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✓ Kriteria #1 &amp; #3 (Autentikasi): Penggunaan Gesture Peek pada kolom kata sandi halaman Login &amp; Register.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✓ Kriteria #6 (Poin Dosen): Penerapan Gesture Swipe (Dismissible) untuk menghapus data secara riil pada database SQLite lokal.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✓ Kriteria Lanjutan: Panel riwayat AI interaktif dengan Drag gesture dan tombol ripple efek InkWell.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  <a:latin typeface="Arial"/>
              </a:defRPr>
            </a:pPr>
            <a:r>
              <a:t>SORGUMMI AI • GESTURE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Gestur Sisi Pengguna (User-Facing)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Slide Presentasi Gestur &amp; Interaksi Lanjutan Sorgummi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rial"/>
              </a:defRPr>
            </a:pPr>
            <a:r>
              <a:t>1. Password Gesture Peek</a:t>
            </a:r>
          </a:p>
          <a:p>
            <a:pPr>
              <a:spcAft>
                <a:spcPts val="1000"/>
              </a:spcAft>
              <a:defRPr sz="1100" i="1">
                <a:solidFill>
                  <a:srgbClr val="64748B"/>
                </a:solidFill>
                <a:latin typeface="Arial"/>
              </a:defRPr>
            </a:pPr>
            <a:r>
              <a:t>Interaksi aman pada form autentikasi.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Menggunakan GestureDetector pada icon visibility password.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Pengguna menahan sentuhan untuk intip (peek) sandi secara temporer.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Sandi otomatis tersembunyi kembali saat jari dilepas.</a:t>
            </a:r>
          </a:p>
          <a:p>
            <a:pPr>
              <a:defRPr sz="1000" b="1">
                <a:solidFill>
                  <a:srgbClr val="2E7D32"/>
                </a:solidFill>
                <a:latin typeface="Courier"/>
              </a:defRPr>
            </a:pPr>
            <a:r>
              <a:t>File: login_screen.dart &amp; register_screen.dart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2. Swipe SQLite Delete</a:t>
            </a:r>
          </a:p>
          <a:p>
            <a:pPr>
              <a:spcAft>
                <a:spcPts val="1000"/>
              </a:spcAft>
              <a:defRPr sz="1100" i="1">
                <a:solidFill>
                  <a:srgbClr val="64748B"/>
                </a:solidFill>
                <a:latin typeface="Arial"/>
              </a:defRPr>
            </a:pPr>
            <a:r>
              <a:t>Mekanisme penghapusan artikel tersimpan.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Dibungkus menggunakan widget Dismissible Flutter.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Geser (swipe) item artikel ke kiri untuk memicu penghapusan.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Aksi memicu database SQLite delete secara riil di database lokal.</a:t>
            </a:r>
          </a:p>
          <a:p>
            <a:pPr>
              <a:defRPr sz="1000" b="1">
                <a:solidFill>
                  <a:srgbClr val="2E7D32"/>
                </a:solidFill>
                <a:latin typeface="Courier"/>
              </a:defRPr>
            </a:pPr>
            <a:r>
              <a:t>File: saved_articles_screen.dart (Poin 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rial"/>
              </a:defRPr>
            </a:pPr>
            <a:r>
              <a:t>3. Chatbot AI Gestures</a:t>
            </a:r>
          </a:p>
          <a:p>
            <a:pPr>
              <a:spcAft>
                <a:spcPts val="1000"/>
              </a:spcAft>
              <a:defRPr sz="1100" i="1">
                <a:solidFill>
                  <a:srgbClr val="64748B"/>
                </a:solidFill>
                <a:latin typeface="Arial"/>
              </a:defRPr>
            </a:pPr>
            <a:r>
              <a:t>Interaksi kaya pada percakapan AI.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Swipe kiri/kanan (Slidable) untuk membalas atau memfavoritkan chat.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LongPress pada bubble chat untuk memicu menu salin/bagikan/hapus.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Drag Gesture untuk membuka/menutup panel riwayat chat.</a:t>
            </a:r>
          </a:p>
          <a:p>
            <a:pPr>
              <a:defRPr sz="1000" b="1">
                <a:solidFill>
                  <a:srgbClr val="2E7D32"/>
                </a:solidFill>
                <a:latin typeface="Courier"/>
              </a:defRPr>
            </a:pPr>
            <a:r>
              <a:t>File: chat_ai_screen.dart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  <a:latin typeface="Arial"/>
              </a:defRPr>
            </a:pPr>
            <a:r>
              <a:t>SORGUMMI AI • GESTURE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Laboratorium Simulator &amp; Telemetri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Slide Presentasi Gestur &amp; Interaksi Lanjutan Sorgummi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Arial"/>
              </a:defRPr>
            </a:pPr>
            <a:r>
              <a:t>Gesture Diagnostic Sandbox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Kanvas Sentuh Interaktif: Area uji coba gestur presisi (Tap, Double Tap, Swipe, Pinch, Shake).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Partikel Visual Dinamis: Efek pancaran partikel visual menggunakan Custom Painter yang di-render 60fps mengikuti pergerakan jari.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Simulasi Shake Sensor: Tombol khusus untuk memicu gerakan goyang akselerometer virtual di desktop/emulator.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Canvas Telemetri &amp; Partikel (Umpan Balik)</a:t>
            </a:r>
          </a:p>
          <a:p>
            <a:pPr>
              <a:spcAft>
                <a:spcPts val="14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Sistem secara real-time menangkap status koordinat sentuhan jari:</a:t>
            </a:r>
          </a:p>
          <a:p>
            <a:pPr>
              <a:spcAft>
                <a:spcPts val="600"/>
              </a:spcAft>
              <a:defRPr sz="1100" b="1">
                <a:solidFill>
                  <a:srgbClr val="00E676"/>
                </a:solidFill>
                <a:latin typeface="Courier New"/>
              </a:defRPr>
            </a:pPr>
            <a:r>
              <a:t>&gt;&gt; Status: Aktif - Mendengarkan Input</a:t>
            </a:r>
          </a:p>
          <a:p>
            <a:pPr>
              <a:spcAft>
                <a:spcPts val="600"/>
              </a:spcAft>
              <a:defRPr sz="1100" b="1">
                <a:solidFill>
                  <a:srgbClr val="00E676"/>
                </a:solidFill>
                <a:latin typeface="Courier New"/>
              </a:defRPr>
            </a:pPr>
            <a:r>
              <a:t>&gt;&gt; Koordinate: X: 145.2, Y: 382.4</a:t>
            </a:r>
          </a:p>
          <a:p>
            <a:pPr>
              <a:spcAft>
                <a:spcPts val="600"/>
              </a:spcAft>
              <a:defRPr sz="1100" b="1">
                <a:solidFill>
                  <a:srgbClr val="00E676"/>
                </a:solidFill>
                <a:latin typeface="Courier New"/>
              </a:defRPr>
            </a:pPr>
            <a:r>
              <a:t>&gt;&gt; Kecepatan: Vx: 420.5, Vy: -12.1 px/s</a:t>
            </a:r>
          </a:p>
          <a:p>
            <a:pPr>
              <a:spcAft>
                <a:spcPts val="600"/>
              </a:spcAft>
              <a:defRPr sz="1100" b="1">
                <a:solidFill>
                  <a:srgbClr val="00E676"/>
                </a:solidFill>
                <a:latin typeface="Courier New"/>
              </a:defRPr>
            </a:pPr>
            <a:r>
              <a:t>&gt;&gt; Gestur Terakhir: SWIPE LEFT (SUCCESS)</a:t>
            </a:r>
          </a:p>
          <a:p>
            <a:pPr>
              <a:spcAft>
                <a:spcPts val="600"/>
              </a:spcAft>
              <a:defRPr sz="1100" b="1">
                <a:solidFill>
                  <a:srgbClr val="00E676"/>
                </a:solidFill>
                <a:latin typeface="Courier New"/>
              </a:defRPr>
            </a:pPr>
            <a:r>
              <a:t>&gt;&gt; Aksi Dipicu: Kosongkan Cache Aplikasi...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  <a:latin typeface="Arial"/>
              </a:defRPr>
            </a:pPr>
            <a:r>
              <a:t>SORGUMMI AI • GESTURE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Pemetaan Gestur Dinamis (Custom Mappings)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Slide Presentasi Gestur &amp; Interaksi Lanjutan Sorgummi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7340"/>
            <a:ext cx="201168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DOUBLE TAP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002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  <a:latin typeface="Arial"/>
              </a:defRPr>
            </a:pPr>
            <a:r>
              <a:t>Aksi: Buka Chatbot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00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Membuka layar bantuan AI secara cepat dari layar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1109441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491740"/>
            <a:ext cx="201168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LONG 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14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  <a:latin typeface="Arial"/>
              </a:defRPr>
            </a:pPr>
            <a:r>
              <a:t>Aksi: Tampilkan Tips Ahli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514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Menampilkan popup tips pertanian sorgum di dialog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1109441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406140"/>
            <a:ext cx="201168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SWIPE LEFT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4290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  <a:latin typeface="Arial"/>
              </a:defRPr>
            </a:pPr>
            <a:r>
              <a:t>Aksi: Kosongkan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4290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Membersihkan file sampah lokal (14.2 MB) secara otomatis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1109441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320540"/>
            <a:ext cx="201168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SWIPE 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3434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  <a:latin typeface="Arial"/>
              </a:defRPr>
            </a:pPr>
            <a:r>
              <a:t>Aksi: Sinkronisasi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3434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Sinkronisasi SQLite lokal dengan backend server secara real-time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1109441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5234940"/>
            <a:ext cx="201168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SHAKE DEVICE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2578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  <a:latin typeface="Arial"/>
              </a:defRPr>
            </a:pPr>
            <a:r>
              <a:t>Aksi: Logout Admin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2578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Logout aman &amp; mengembalikan role ke mode guest/user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  <a:latin typeface="Arial"/>
              </a:defRPr>
            </a:pPr>
            <a:r>
              <a:t>SORGUMMI AI • GESTURE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Analitik &amp; Diagnostik Telemetri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Slide Presentasi Gestur &amp; Interaksi Lanjutan Sorgummi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Arial"/>
              </a:defRPr>
            </a:pPr>
            <a:r>
              <a:t>Visualisasi Statistik (fl_chart)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Grafik Batang Dinamis: Menggunakan library fl_chart untuk merender frekuensi penggunaan gestur di dashboard admin.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Kategori Terlacak: Mengakumulasikan hitungan Tap, Double Tap, Long Press, Swipe, Scale/Pinch, dan Shake secara real-time.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Local Persistence: Data statistik dan logs disimpan di SharedPreferences sehingga tidak hilang saat aplikasi ditutup.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Arial"/>
              </a:defRPr>
            </a:pPr>
            <a:r>
              <a:t>Log Telemetri Real-time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✓ Tabel Log Telemetri: Mencatat setiap interaksi secara berurutan.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✓ Metadata Lengkap: Merekam timestamp, tipe gestur, koordinat jari (X,Y), kecepatan geser (Vx,Vy).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✓ Status Validasi: Menunjukkan status SUCCESS (jika memicu aksi yang valid) atau IGNORED (jika tidak terikat aksi).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✓ Limit Data: Otomatis membatasi log maksimal 50 antrean untuk menjaga kinerja memori perangkat.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13716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Kesimpulan &amp; Demo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✔ Antarmuka yang Bersih &amp; Ergonomis: Interaksi gestur mengurangi elemen tombol padat di layar.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✔ Umpan Balik Intuitif: Visualisasi partikel dinamis dan ripple InkWell meningkatkan pengalaman pengguna.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✔ Implementasi Modular: Kode terstruktur dengan baik di direktori lib/admin/ dan lib/presentation/.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✔ Kesiapan Sidang/Demo: Seluruh fitur gestur telah diuji melalui Sandbox Simulator Admin dan siap dijalankan.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